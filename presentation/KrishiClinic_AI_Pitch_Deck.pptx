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4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51" autoAdjust="0"/>
    <p:restoredTop sz="94649"/>
  </p:normalViewPr>
  <p:slideViewPr>
    <p:cSldViewPr snapToGrid="0">
      <p:cViewPr>
        <p:scale>
          <a:sx n="66" d="100"/>
          <a:sy n="66" d="100"/>
        </p:scale>
        <p:origin x="1483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F6AE2-9F2D-1E35-1A17-9330D9A4E8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CD4CED-B2E2-9308-82C6-2C96D3FD5B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2B325D-69DC-9BD1-BF18-59A052215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5B2D7-F433-0049-A368-05B01989A04C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0A6429-B682-7368-0C49-55FE8A6B2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42BAA2-4EF4-082B-938E-F8D145911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EECB1-8E25-6B42-BB98-DE45D11FE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8256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034D2-6D79-0F7B-E11B-8BCDE607B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36C602-AE5E-A506-1502-193A150113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5BF264-0796-B7D0-BA2E-C4BB7944D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5B2D7-F433-0049-A368-05B01989A04C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51E9D7-AE60-76EC-ED31-63946798B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8DD6F4-7F7B-B2DE-8B38-228B83524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EECB1-8E25-6B42-BB98-DE45D11FE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611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E037D-F7E8-0133-DF5B-82C915EF6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2F2A7C-48A9-5561-4A7A-29DB4C7EF4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75949F-BBED-5F2A-5345-08547839C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5B2D7-F433-0049-A368-05B01989A04C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04906C-D454-820B-371A-7FA3CD301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54B578-F956-A703-287F-DAD5567B0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EECB1-8E25-6B42-BB98-DE45D11FE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922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94976-71C1-E6EF-9AC1-B25B513E9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A45D41-D9E0-0D2B-C98B-9CE1D9C323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3AF9C-6890-6FD2-5118-FF08987A7C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52715E-4BFF-F3D0-D4B5-1A1BC83DD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5B2D7-F433-0049-A368-05B01989A04C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778419-CA20-2DD5-BFC7-FE777BD06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342D54-75E7-9110-0B8D-887636478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EECB1-8E25-6B42-BB98-DE45D11FE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078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D7613-3AAE-377F-E75B-EDEEF5AC3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E3F4CF-51AE-15A6-197B-78777EF34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55C9C2-2289-529C-8E42-64B3B2F7AD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2ED327-8672-EE87-DEAB-002117C747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3F2CE0-BA71-822E-2F74-0A238B2204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C35BB5-2E4E-FF2A-C447-E79F0BF45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5B2D7-F433-0049-A368-05B01989A04C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69F78A-FF05-2C55-87FD-7D68109FB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9368D2-BA20-B448-FDF1-1406EC3E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EECB1-8E25-6B42-BB98-DE45D11FE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834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BFA3C-1930-6DE4-C04E-FF4BB1364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06B19D-F1B9-07D2-9496-865FDBAF6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5B2D7-F433-0049-A368-05B01989A04C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F8213A-F76D-8794-E8AC-89B1A90E4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AAFB85-DEB8-C1AF-9F47-C8985F637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EECB1-8E25-6B42-BB98-DE45D11FE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637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6B8BEA-C1AE-80AC-B788-8DD25751D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5B2D7-F433-0049-A368-05B01989A04C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5491D7-C3A2-E68F-55F6-F223D1E0D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EABD25-F132-41A4-AB7C-7209595FC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EECB1-8E25-6B42-BB98-DE45D11FE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550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42D0C-0531-2101-51E8-CEE00A9CD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1F337F-6710-833D-5F90-E9464C8C92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FBB1C6-DF38-7FFC-9397-C41B3957A3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52D38B-D6A6-073A-0953-6C7FB7859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5B2D7-F433-0049-A368-05B01989A04C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BEFADE-CE10-201C-E5ED-6F9950BA0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9DA0A5-B0F0-B3CB-60D1-0A81355F7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EECB1-8E25-6B42-BB98-DE45D11FE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3149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AAB85-2021-543B-4E90-53C463874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A5E5D7-0EA9-DF0A-5675-8A3C23B890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F3BCAF-D92F-A2C4-5096-DFA5A3BED2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812D9B-CCBF-D844-D701-3C1B5B278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5B2D7-F433-0049-A368-05B01989A04C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716667-DD02-80A7-3B27-60958CBB3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EA8CA7-4082-FBBE-C7E9-D9B8A8F91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EECB1-8E25-6B42-BB98-DE45D11FE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868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9DDA6-D047-2C1E-7532-DD3105C2D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B99469-A125-A889-44EB-FEB4F2892D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503B4B-21DC-2275-D77C-CADA27110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5B2D7-F433-0049-A368-05B01989A04C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30736-2B74-FE9C-767D-1F4842E1E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8B9328-B99E-0F47-FFF1-D4A957103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EECB1-8E25-6B42-BB98-DE45D11FE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671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CC601F-F3DD-4421-D2E8-2172AF63A6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F6854D-EBFB-566B-680C-1370F2BEBF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058BF2-5FD9-5296-D446-8CF160924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5B2D7-F433-0049-A368-05B01989A04C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D0472D-82D8-DC18-7527-36E98A609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29AA75-8A62-9E2E-CBB3-82566ECBA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EECB1-8E25-6B42-BB98-DE45D11FE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47454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C29F23-F68F-8298-E976-FD51837B9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49ACC1-F056-B963-FEF8-AFED6944CB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C9ED91-79C0-F70E-D414-C84BF4EDE5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F5B2D7-F433-0049-A368-05B01989A04C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B24526-ABC5-5811-DDD9-910D303073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53E01A-8564-F347-D91B-988378C8A6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EEECB1-8E25-6B42-BB98-DE45D11FE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845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jpg"/><Relationship Id="rId6" Type="http://schemas.openxmlformats.org/officeDocument/2006/relationships/image" Target="../media/image21.png"/><Relationship Id="rId7" Type="http://schemas.openxmlformats.org/officeDocument/2006/relationships/image" Target="../media/image28.png"/><Relationship Id="rId8" Type="http://schemas.openxmlformats.org/officeDocument/2006/relationships/image" Target="../media/image3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9.png"/><Relationship Id="rId6" Type="http://schemas.openxmlformats.org/officeDocument/2006/relationships/image" Target="../media/image16.png"/><Relationship Id="rId7" Type="http://schemas.openxmlformats.org/officeDocument/2006/relationships/image" Target="../media/image22.png"/><Relationship Id="rId8" Type="http://schemas.openxmlformats.org/officeDocument/2006/relationships/image" Target="../media/image29.png"/><Relationship Id="rId9" Type="http://schemas.openxmlformats.org/officeDocument/2006/relationships/image" Target="../media/image3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10.jpg"/><Relationship Id="rId6" Type="http://schemas.openxmlformats.org/officeDocument/2006/relationships/image" Target="../media/image23.png"/><Relationship Id="rId7" Type="http://schemas.openxmlformats.org/officeDocument/2006/relationships/image" Target="../media/image30.png"/><Relationship Id="rId8" Type="http://schemas.openxmlformats.org/officeDocument/2006/relationships/image" Target="../media/image37.png"/><Relationship Id="rId9" Type="http://schemas.openxmlformats.org/officeDocument/2006/relationships/image" Target="../media/image4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11.png"/><Relationship Id="rId6" Type="http://schemas.openxmlformats.org/officeDocument/2006/relationships/image" Target="../media/image17.png"/><Relationship Id="rId7" Type="http://schemas.openxmlformats.org/officeDocument/2006/relationships/image" Target="../media/image24.png"/><Relationship Id="rId8" Type="http://schemas.openxmlformats.org/officeDocument/2006/relationships/image" Target="../media/image3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12.jpg"/><Relationship Id="rId6" Type="http://schemas.openxmlformats.org/officeDocument/2006/relationships/image" Target="../media/image13.png"/><Relationship Id="rId7" Type="http://schemas.openxmlformats.org/officeDocument/2006/relationships/image" Target="../media/image18.png"/><Relationship Id="rId8" Type="http://schemas.openxmlformats.org/officeDocument/2006/relationships/image" Target="../media/image25.png"/><Relationship Id="rId9" Type="http://schemas.openxmlformats.org/officeDocument/2006/relationships/image" Target="../media/image32.png"/><Relationship Id="rId10" Type="http://schemas.openxmlformats.org/officeDocument/2006/relationships/image" Target="../media/image3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14.png"/><Relationship Id="rId6" Type="http://schemas.openxmlformats.org/officeDocument/2006/relationships/image" Target="../media/image19.png"/><Relationship Id="rId7" Type="http://schemas.openxmlformats.org/officeDocument/2006/relationships/image" Target="../media/image26.png"/><Relationship Id="rId8" Type="http://schemas.openxmlformats.org/officeDocument/2006/relationships/image" Target="../media/image33.png"/><Relationship Id="rId9" Type="http://schemas.openxmlformats.org/officeDocument/2006/relationships/image" Target="../media/image39.png"/><Relationship Id="rId10" Type="http://schemas.openxmlformats.org/officeDocument/2006/relationships/image" Target="../media/image42.png"/><Relationship Id="rId11" Type="http://schemas.openxmlformats.org/officeDocument/2006/relationships/image" Target="../media/image4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15.png"/><Relationship Id="rId6" Type="http://schemas.openxmlformats.org/officeDocument/2006/relationships/image" Target="../media/image20.png"/><Relationship Id="rId7" Type="http://schemas.openxmlformats.org/officeDocument/2006/relationships/image" Target="../media/image27.png"/><Relationship Id="rId8" Type="http://schemas.openxmlformats.org/officeDocument/2006/relationships/image" Target="../media/image34.png"/><Relationship Id="rId9" Type="http://schemas.openxmlformats.org/officeDocument/2006/relationships/image" Target="../media/image40.png"/><Relationship Id="rId10" Type="http://schemas.openxmlformats.org/officeDocument/2006/relationships/image" Target="../media/image43.png"/><Relationship Id="rId11" Type="http://schemas.openxmlformats.org/officeDocument/2006/relationships/image" Target="../media/image45.png"/><Relationship Id="rId12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23A69-451B-5C60-D3C3-80EFFDDB8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0A25292-07CF-2C34-5DA8-2F8699C7AA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EE91AB6-16D9-5270-4B41-454E74A5BF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6019" y="1186454"/>
            <a:ext cx="7185568" cy="2989077"/>
          </a:xfrm>
          <a:prstGeom prst="rect">
            <a:avLst/>
          </a:prstGeom>
        </p:spPr>
      </p:pic>
      <p:sp>
        <p:nvSpPr>
          <p:cNvPr id="19" name="Subtitle 2">
            <a:extLst>
              <a:ext uri="{FF2B5EF4-FFF2-40B4-BE49-F238E27FC236}">
                <a16:creationId xmlns:a16="http://schemas.microsoft.com/office/drawing/2014/main" id="{39D722F3-6A88-8855-21FC-EFDDBD57DB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97680"/>
            <a:ext cx="9144000" cy="2194560"/>
          </a:xfrm>
        </p:spPr>
        <p:txBody>
          <a:bodyPr>
            <a:normAutofit/>
          </a:bodyPr>
          <a:lstStyle/>
          <a:p>
            <a:pPr algn="ctr">
              <a:spcAft>
                <a:spcPts val="600"/>
              </a:spcAft>
              <a:defRPr sz="2500" b="1">
                <a:solidFill>
                  <a:srgbClr val="FFFFFF"/>
                </a:solidFill>
              </a:defRPr>
            </a:pPr>
            <a:r>
              <a:t>Team Name: Codies</a:t>
            </a:r>
          </a:p>
          <a:p>
            <a:pPr algn="ctr">
              <a:spcAft>
                <a:spcPts val="800"/>
              </a:spcAft>
              <a:defRPr sz="2000">
                <a:solidFill>
                  <a:srgbClr val="DCDCF5"/>
                </a:solidFill>
              </a:defRPr>
            </a:pPr>
            <a:r>
              <a:t>Team ID: [Registration ID]</a:t>
            </a:r>
          </a:p>
          <a:p>
            <a:pPr algn="ctr">
              <a:spcAft>
                <a:spcPts val="600"/>
              </a:spcAft>
              <a:defRPr sz="2300" b="1">
                <a:solidFill>
                  <a:srgbClr val="FFE164"/>
                </a:solidFill>
              </a:defRPr>
            </a:pPr>
            <a:r>
              <a:t>Problem Statement: PS #1 - AI Crop Disease Detection</a:t>
            </a:r>
          </a:p>
          <a:p>
            <a:pPr algn="ctr">
              <a:spcAft>
                <a:spcPts val="800"/>
              </a:spcAft>
              <a:defRPr sz="2000">
                <a:solidFill>
                  <a:srgbClr val="C8F5C8"/>
                </a:solidFill>
              </a:defRPr>
            </a:pPr>
            <a:r>
              <a:t>Theme: AgriTech</a:t>
            </a:r>
          </a:p>
          <a:p>
            <a:pPr algn="ctr">
              <a:defRPr sz="2200" b="1">
                <a:solidFill>
                  <a:srgbClr val="FFFFFF"/>
                </a:solidFill>
              </a:defRPr>
            </a:pPr>
            <a:r>
              <a:t>Project: KrishiClinic AI - Intelligent Crop Diagnosis &amp; Outbreak Radar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64D76ABC-7E7F-FB75-D63B-7BEE818D88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235" y="209291"/>
            <a:ext cx="2357120" cy="471029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A8B38EF3-6BB7-0D35-2249-1B253CD463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7367" y="160131"/>
            <a:ext cx="4563964" cy="627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3022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41C40-8C7D-63E5-7926-0040126F7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>
            <a:extLst>
              <a:ext uri="{FF2B5EF4-FFF2-40B4-BE49-F238E27FC236}">
                <a16:creationId xmlns:a16="http://schemas.microsoft.com/office/drawing/2014/main" id="{9E11D4D5-F915-BD3F-BCC6-A22137EB3F0E}"/>
              </a:ext>
            </a:extLst>
          </p:cNvPr>
          <p:cNvSpPr txBox="1">
            <a:spLocks/>
          </p:cNvSpPr>
          <p:nvPr/>
        </p:nvSpPr>
        <p:spPr>
          <a:xfrm>
            <a:off x="1524000" y="1007416"/>
            <a:ext cx="9144000" cy="727599"/>
          </a:xfrm>
          <a:prstGeom prst="rect">
            <a:avLst/>
          </a:prstGeom>
        </p:spPr>
        <p:txBody>
          <a:bodyPr vert="horz" lIns="91440" tIns="45720" rIns="91440" bIns="45720" rtlCol="0" wrap="square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600" b="1">
                <a:solidFill>
                  <a:srgbClr val="1A202C"/>
                </a:solidFill>
              </a:defRPr>
            </a:pPr>
            <a:r>
              <a:t>IDEA / SOLUTION TITLE: KRISHICLINIC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1371600"/>
            <a:ext cx="107259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50" b="1">
                <a:solidFill>
                  <a:srgbClr val="22543D"/>
                </a:solidFill>
              </a:defRPr>
            </a:pPr>
            <a:r>
              <a:t>Empowering Smallholder Farmers with Doctor-Verified AI Crop Pathology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520" y="1847088"/>
            <a:ext cx="6217920" cy="4462272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7132320" y="1847088"/>
            <a:ext cx="4325112" cy="4462272"/>
          </a:xfrm>
          <a:prstGeom prst="roundRect">
            <a:avLst/>
          </a:prstGeom>
          <a:solidFill>
            <a:srgbClr val="F7FAFC"/>
          </a:solidFill>
          <a:ln w="190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56032" bIns="256032"/>
          <a:lstStyle/>
          <a:p>
            <a:pPr algn="ctr">
              <a:spcAft>
                <a:spcPts val="1400"/>
              </a:spcAft>
              <a:defRPr sz="1750" b="1">
                <a:solidFill>
                  <a:srgbClr val="22543D"/>
                </a:solidFill>
              </a:defRPr>
            </a:pPr>
            <a:r>
              <a:t>KEY TAKEAWAYS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400" b="1">
                <a:solidFill>
                  <a:srgbClr val="1A202C"/>
                </a:solidFill>
              </a:defRPr>
            </a:pPr>
            <a:r>
              <a:t>The Rural Crisis: </a:t>
            </a:r>
            <a:r>
              <a:rPr b="0" sz="1250">
                <a:solidFill>
                  <a:srgbClr val="4A5568"/>
                </a:solidFill>
              </a:rPr>
              <a:t>60%+ of Indian farmers lack agronomist access, relying solely on pesticide shopkeeper quotas.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400" b="1">
                <a:solidFill>
                  <a:srgbClr val="1A202C"/>
                </a:solidFill>
              </a:defRPr>
            </a:pPr>
            <a:r>
              <a:t>National Damage: </a:t>
            </a:r>
            <a:r>
              <a:rPr b="0" sz="1250">
                <a:solidFill>
                  <a:srgbClr val="4A5568"/>
                </a:solidFill>
              </a:rPr>
              <a:t>India loses over ₹90,000 Crores every year to misdiagnosed diseases &amp; ineffective sprays.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400" b="1">
                <a:solidFill>
                  <a:srgbClr val="1A202C"/>
                </a:solidFill>
              </a:defRPr>
            </a:pPr>
            <a:r>
              <a:t>The KrishiClinic Cure: </a:t>
            </a:r>
            <a:r>
              <a:rPr b="0" sz="1250">
                <a:solidFill>
                  <a:srgbClr val="4A5568"/>
                </a:solidFill>
              </a:rPr>
              <a:t>2-second on-device AI diagnosis backed by certified doctor verification &amp; exact remedies.</a:t>
            </a:r>
          </a:p>
        </p:txBody>
      </p:sp>
    </p:spTree>
    <p:extLst>
      <p:ext uri="{BB962C8B-B14F-4D97-AF65-F5344CB8AC3E}">
        <p14:creationId xmlns:p14="http://schemas.microsoft.com/office/powerpoint/2010/main" val="1878704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5401E-A2F9-F68A-C13C-002654EB3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>
            <a:extLst>
              <a:ext uri="{FF2B5EF4-FFF2-40B4-BE49-F238E27FC236}">
                <a16:creationId xmlns:a16="http://schemas.microsoft.com/office/drawing/2014/main" id="{F8EAF9B0-D700-6FFD-FA14-C703DA508D50}"/>
              </a:ext>
            </a:extLst>
          </p:cNvPr>
          <p:cNvSpPr txBox="1">
            <a:spLocks/>
          </p:cNvSpPr>
          <p:nvPr/>
        </p:nvSpPr>
        <p:spPr>
          <a:xfrm>
            <a:off x="1524000" y="1007416"/>
            <a:ext cx="9144000" cy="727599"/>
          </a:xfrm>
          <a:prstGeom prst="rect">
            <a:avLst/>
          </a:prstGeom>
        </p:spPr>
        <p:txBody>
          <a:bodyPr vert="horz" lIns="91440" tIns="45720" rIns="91440" bIns="45720" rtlCol="0" wrap="square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600" b="1">
                <a:solidFill>
                  <a:srgbClr val="1A202C"/>
                </a:solidFill>
              </a:defRPr>
            </a:pPr>
            <a:r>
              <a:t>TECHNICAL APPROACH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371600"/>
            <a:ext cx="107259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50" b="1">
                <a:solidFill>
                  <a:srgbClr val="22543D"/>
                </a:solidFill>
              </a:defRPr>
            </a:pPr>
            <a:r>
              <a:t>Production-Grade Dual-Engine Vision Pipeline with Offline Rural Resilience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1520" y="1847088"/>
            <a:ext cx="6217920" cy="446227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132320" y="1847088"/>
            <a:ext cx="4325112" cy="4462272"/>
          </a:xfrm>
          <a:prstGeom prst="roundRect">
            <a:avLst/>
          </a:prstGeom>
          <a:solidFill>
            <a:srgbClr val="F7FAFC"/>
          </a:solidFill>
          <a:ln w="190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56032" bIns="256032"/>
          <a:lstStyle/>
          <a:p>
            <a:pPr algn="ctr">
              <a:spcAft>
                <a:spcPts val="1400"/>
              </a:spcAft>
              <a:defRPr sz="1750" b="1">
                <a:solidFill>
                  <a:srgbClr val="22543D"/>
                </a:solidFill>
              </a:defRPr>
            </a:pPr>
            <a:r>
              <a:t>ARCHITECTURE PILLARS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400" b="1">
                <a:solidFill>
                  <a:srgbClr val="1A202C"/>
                </a:solidFill>
              </a:defRPr>
            </a:pPr>
            <a:r>
              <a:t>Dual-Engine AI: </a:t>
            </a:r>
            <a:r>
              <a:rPr b="0" sz="1250">
                <a:solidFill>
                  <a:srgbClr val="4A5568"/>
                </a:solidFill>
              </a:rPr>
              <a:t>Local EfficientNetV2-S on edge + Gemini Vision cloud fallback for complex multi-disease leaves.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400" b="1">
                <a:solidFill>
                  <a:srgbClr val="1A202C"/>
                </a:solidFill>
              </a:defRPr>
            </a:pPr>
            <a:r>
              <a:t>Doctor Safety Gate: </a:t>
            </a:r>
            <a:r>
              <a:rPr b="0" sz="1250">
                <a:solidFill>
                  <a:srgbClr val="4A5568"/>
                </a:solidFill>
              </a:rPr>
              <a:t>Confidence ≥ 70% auto-approves; rare cases route to accredited agronomists for review.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400" b="1">
                <a:solidFill>
                  <a:srgbClr val="1A202C"/>
                </a:solidFill>
              </a:defRPr>
            </a:pPr>
            <a:r>
              <a:t>25km Outbreak Radar: </a:t>
            </a:r>
            <a:r>
              <a:rPr b="0" sz="1250">
                <a:solidFill>
                  <a:srgbClr val="4A5568"/>
                </a:solidFill>
              </a:rPr>
              <a:t>Geospatial DBSCAN clustering flags regional pathogen hotspots to stop village epidemics.</a:t>
            </a:r>
          </a:p>
        </p:txBody>
      </p:sp>
    </p:spTree>
    <p:extLst>
      <p:ext uri="{BB962C8B-B14F-4D97-AF65-F5344CB8AC3E}">
        <p14:creationId xmlns:p14="http://schemas.microsoft.com/office/powerpoint/2010/main" val="3825765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902FBD-CBBD-6E7A-8F99-03C2E2901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>
            <a:extLst>
              <a:ext uri="{FF2B5EF4-FFF2-40B4-BE49-F238E27FC236}">
                <a16:creationId xmlns:a16="http://schemas.microsoft.com/office/drawing/2014/main" id="{02F223C4-723B-D8FF-2E5F-5046513C4580}"/>
              </a:ext>
            </a:extLst>
          </p:cNvPr>
          <p:cNvSpPr txBox="1">
            <a:spLocks/>
          </p:cNvSpPr>
          <p:nvPr/>
        </p:nvSpPr>
        <p:spPr>
          <a:xfrm>
            <a:off x="1524000" y="1007416"/>
            <a:ext cx="9144000" cy="727599"/>
          </a:xfrm>
          <a:prstGeom prst="rect">
            <a:avLst/>
          </a:prstGeom>
        </p:spPr>
        <p:txBody>
          <a:bodyPr vert="horz" lIns="91440" tIns="45720" rIns="91440" bIns="45720" rtlCol="0" wrap="square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600" b="1">
                <a:solidFill>
                  <a:srgbClr val="1A202C"/>
                </a:solidFill>
              </a:defRPr>
            </a:pPr>
            <a:r>
              <a:t>USER EXPERIENCE &amp;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371600"/>
            <a:ext cx="107259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50" b="1">
                <a:solidFill>
                  <a:srgbClr val="22543D"/>
                </a:solidFill>
              </a:defRPr>
            </a:pPr>
            <a:r>
              <a:t>Farmer-Centric Usability: Voice Navigation &amp; Zero-Literacy Barriers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1520" y="1847088"/>
            <a:ext cx="6217920" cy="446227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132320" y="1847088"/>
            <a:ext cx="4325112" cy="4462272"/>
          </a:xfrm>
          <a:prstGeom prst="roundRect">
            <a:avLst/>
          </a:prstGeom>
          <a:solidFill>
            <a:srgbClr val="F7FAFC"/>
          </a:solidFill>
          <a:ln w="190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56032" bIns="256032"/>
          <a:lstStyle/>
          <a:p>
            <a:pPr algn="ctr">
              <a:spcAft>
                <a:spcPts val="1400"/>
              </a:spcAft>
              <a:defRPr sz="1750" b="1">
                <a:solidFill>
                  <a:srgbClr val="22543D"/>
                </a:solidFill>
              </a:defRPr>
            </a:pPr>
            <a:r>
              <a:t>FARMER JOURNEY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400" b="1">
                <a:solidFill>
                  <a:srgbClr val="1A202C"/>
                </a:solidFill>
              </a:defRPr>
            </a:pPr>
            <a:r>
              <a:t>Voice-First Design: </a:t>
            </a:r>
            <a:r>
              <a:rPr b="0" sz="1250">
                <a:solidFill>
                  <a:srgbClr val="4A5568"/>
                </a:solidFill>
              </a:rPr>
              <a:t>Farmers can speak queries in Hindi, Marathi, Telugu, Punjabi, Tamil &amp; English with audio cures.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400" b="1">
                <a:solidFill>
                  <a:srgbClr val="1A202C"/>
                </a:solidFill>
              </a:defRPr>
            </a:pPr>
            <a:r>
              <a:t>3-Tap Simplicity: </a:t>
            </a:r>
            <a:r>
              <a:rPr b="0" sz="1250">
                <a:solidFill>
                  <a:srgbClr val="4A5568"/>
                </a:solidFill>
              </a:rPr>
              <a:t>Snap photo → View color-coded severity (Green/Orange/Red) → Listen to spoken medicine dosage.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400" b="1">
                <a:solidFill>
                  <a:srgbClr val="1A202C"/>
                </a:solidFill>
              </a:defRPr>
            </a:pPr>
            <a:r>
              <a:t>Agronomist Portal: </a:t>
            </a:r>
            <a:r>
              <a:rPr b="0" sz="1250">
                <a:solidFill>
                  <a:srgbClr val="4A5568"/>
                </a:solidFill>
              </a:rPr>
              <a:t>Fast web dashboard with 1-click case approval, dosage adjustments, and digital certification.</a:t>
            </a:r>
          </a:p>
        </p:txBody>
      </p:sp>
    </p:spTree>
    <p:extLst>
      <p:ext uri="{BB962C8B-B14F-4D97-AF65-F5344CB8AC3E}">
        <p14:creationId xmlns:p14="http://schemas.microsoft.com/office/powerpoint/2010/main" val="16316937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BE5B1-2A68-3BFA-91DB-CDDDF3460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>
            <a:extLst>
              <a:ext uri="{FF2B5EF4-FFF2-40B4-BE49-F238E27FC236}">
                <a16:creationId xmlns:a16="http://schemas.microsoft.com/office/drawing/2014/main" id="{1EC8439A-6F4E-8345-D2B1-B1AC36D1F2B5}"/>
              </a:ext>
            </a:extLst>
          </p:cNvPr>
          <p:cNvSpPr txBox="1">
            <a:spLocks/>
          </p:cNvSpPr>
          <p:nvPr/>
        </p:nvSpPr>
        <p:spPr>
          <a:xfrm>
            <a:off x="1524000" y="1007416"/>
            <a:ext cx="9144000" cy="727599"/>
          </a:xfrm>
          <a:prstGeom prst="rect">
            <a:avLst/>
          </a:prstGeom>
        </p:spPr>
        <p:txBody>
          <a:bodyPr vert="horz" lIns="91440" tIns="45720" rIns="91440" bIns="45720" rtlCol="0" wrap="square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600" b="1">
                <a:solidFill>
                  <a:srgbClr val="1A202C"/>
                </a:solidFill>
              </a:defRPr>
            </a:pPr>
            <a:r>
              <a:t>FEASIBILITY AND VIABILITY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371600"/>
            <a:ext cx="107259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50" b="1">
                <a:solidFill>
                  <a:srgbClr val="22543D"/>
                </a:solidFill>
              </a:defRPr>
            </a:pPr>
            <a:r>
              <a:t>Low-Cost Engineering Built for Entry-Level Devices &amp; Remote Farms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520" y="1847088"/>
            <a:ext cx="6217920" cy="4462272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132320" y="1847088"/>
            <a:ext cx="4325112" cy="4462272"/>
          </a:xfrm>
          <a:prstGeom prst="roundRect">
            <a:avLst/>
          </a:prstGeom>
          <a:solidFill>
            <a:srgbClr val="F7FAFC"/>
          </a:solidFill>
          <a:ln w="190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56032" bIns="256032"/>
          <a:lstStyle/>
          <a:p>
            <a:pPr algn="ctr">
              <a:spcAft>
                <a:spcPts val="1400"/>
              </a:spcAft>
              <a:defRPr sz="1750" b="1">
                <a:solidFill>
                  <a:srgbClr val="22543D"/>
                </a:solidFill>
              </a:defRPr>
            </a:pPr>
            <a:r>
              <a:t>FEASIBILITY HIGHLIGHTS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400" b="1">
                <a:solidFill>
                  <a:srgbClr val="1A202C"/>
                </a:solidFill>
              </a:defRPr>
            </a:pPr>
            <a:r>
              <a:t>Runs on ₹5,000 Phones: </a:t>
            </a:r>
            <a:r>
              <a:rPr b="0" sz="1250">
                <a:solidFill>
                  <a:srgbClr val="4A5568"/>
                </a:solidFill>
              </a:rPr>
              <a:t>Optimized memory footprint under 60 MB RAM for Android 8.0+ entry smartphones.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400" b="1">
                <a:solidFill>
                  <a:srgbClr val="1A202C"/>
                </a:solidFill>
              </a:defRPr>
            </a:pPr>
            <a:r>
              <a:t>100% Offline Diagnosis: </a:t>
            </a:r>
            <a:r>
              <a:rPr b="0" sz="1250">
                <a:solidFill>
                  <a:srgbClr val="4A5568"/>
                </a:solidFill>
              </a:rPr>
              <a:t>Operates entirely in remote farm fields without cellular network connectivity.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400" b="1">
                <a:solidFill>
                  <a:srgbClr val="1A202C"/>
                </a:solidFill>
              </a:defRPr>
            </a:pPr>
            <a:r>
              <a:t>Under ₹0.15 Unit Cost: </a:t>
            </a:r>
            <a:r>
              <a:rPr b="0" sz="1250">
                <a:solidFill>
                  <a:srgbClr val="4A5568"/>
                </a:solidFill>
              </a:rPr>
              <a:t>Edge AI compute offloads servers, ensuring 100% free access for marginal farmers.</a:t>
            </a:r>
          </a:p>
        </p:txBody>
      </p:sp>
    </p:spTree>
    <p:extLst>
      <p:ext uri="{BB962C8B-B14F-4D97-AF65-F5344CB8AC3E}">
        <p14:creationId xmlns:p14="http://schemas.microsoft.com/office/powerpoint/2010/main" val="27086959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23439-F0E1-61C1-829E-B369A75ED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>
            <a:extLst>
              <a:ext uri="{FF2B5EF4-FFF2-40B4-BE49-F238E27FC236}">
                <a16:creationId xmlns:a16="http://schemas.microsoft.com/office/drawing/2014/main" id="{F7738DEC-68AB-76B9-D1EA-AAC0A4CF9E8C}"/>
              </a:ext>
            </a:extLst>
          </p:cNvPr>
          <p:cNvSpPr txBox="1">
            <a:spLocks/>
          </p:cNvSpPr>
          <p:nvPr/>
        </p:nvSpPr>
        <p:spPr>
          <a:xfrm>
            <a:off x="1524000" y="1007416"/>
            <a:ext cx="9144000" cy="727599"/>
          </a:xfrm>
          <a:prstGeom prst="rect">
            <a:avLst/>
          </a:prstGeom>
        </p:spPr>
        <p:txBody>
          <a:bodyPr vert="horz" lIns="91440" tIns="45720" rIns="91440" bIns="45720" rtlCol="0" wrap="square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600" b="1">
                <a:solidFill>
                  <a:srgbClr val="1A202C"/>
                </a:solidFill>
              </a:defRPr>
            </a:pPr>
            <a:r>
              <a:t>IMPACT AND BENEFITS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371600"/>
            <a:ext cx="107259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50" b="1">
                <a:solidFill>
                  <a:srgbClr val="22543D"/>
                </a:solidFill>
              </a:defRPr>
            </a:pPr>
            <a:r>
              <a:t>Protecting Livelihoods, Restoring Soil Health &amp; Preventing Epidemics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1520" y="1847088"/>
            <a:ext cx="6217920" cy="446227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132320" y="1847088"/>
            <a:ext cx="4325112" cy="4462272"/>
          </a:xfrm>
          <a:prstGeom prst="roundRect">
            <a:avLst/>
          </a:prstGeom>
          <a:solidFill>
            <a:srgbClr val="F7FAFC"/>
          </a:solidFill>
          <a:ln w="190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56032" bIns="256032"/>
          <a:lstStyle/>
          <a:p>
            <a:pPr algn="ctr">
              <a:spcAft>
                <a:spcPts val="1400"/>
              </a:spcAft>
              <a:defRPr sz="1750" b="1">
                <a:solidFill>
                  <a:srgbClr val="22543D"/>
                </a:solidFill>
              </a:defRPr>
            </a:pPr>
            <a:r>
              <a:t>MEASURED IMPACT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400" b="1">
                <a:solidFill>
                  <a:srgbClr val="1A202C"/>
                </a:solidFill>
              </a:defRPr>
            </a:pPr>
            <a:r>
              <a:t>70% Cost Reduction: </a:t>
            </a:r>
            <a:r>
              <a:rPr b="0" sz="1250">
                <a:solidFill>
                  <a:srgbClr val="4A5568"/>
                </a:solidFill>
              </a:rPr>
              <a:t>Saves ₹25,000 - ₹30,000 per acre by stopping crop loss and unnecessary pesticide purchases.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400" b="1">
                <a:solidFill>
                  <a:srgbClr val="1A202C"/>
                </a:solidFill>
              </a:defRPr>
            </a:pPr>
            <a:r>
              <a:t>40% Less Toxic Spray: </a:t>
            </a:r>
            <a:r>
              <a:rPr b="0" sz="1250">
                <a:solidFill>
                  <a:srgbClr val="4A5568"/>
                </a:solidFill>
              </a:rPr>
              <a:t>Precision active salt ratios and verified organic remedies restore long-term soil biology.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400" b="1">
                <a:solidFill>
                  <a:srgbClr val="1A202C"/>
                </a:solidFill>
              </a:defRPr>
            </a:pPr>
            <a:r>
              <a:t>2-Sec Rapid Containment: </a:t>
            </a:r>
            <a:r>
              <a:rPr b="0" sz="1250">
                <a:solidFill>
                  <a:srgbClr val="4A5568"/>
                </a:solidFill>
              </a:rPr>
              <a:t>Cuts diagnostic delay from 72 hours of shopkeeper guesswork down to 2 seconds.</a:t>
            </a:r>
          </a:p>
        </p:txBody>
      </p:sp>
    </p:spTree>
    <p:extLst>
      <p:ext uri="{BB962C8B-B14F-4D97-AF65-F5344CB8AC3E}">
        <p14:creationId xmlns:p14="http://schemas.microsoft.com/office/powerpoint/2010/main" val="38709382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85737-2B79-DAA5-C0FC-3D3F4D07C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>
            <a:extLst>
              <a:ext uri="{FF2B5EF4-FFF2-40B4-BE49-F238E27FC236}">
                <a16:creationId xmlns:a16="http://schemas.microsoft.com/office/drawing/2014/main" id="{4AC60AF1-F5C0-2574-2D97-03A2B872B0BF}"/>
              </a:ext>
            </a:extLst>
          </p:cNvPr>
          <p:cNvSpPr txBox="1">
            <a:spLocks/>
          </p:cNvSpPr>
          <p:nvPr/>
        </p:nvSpPr>
        <p:spPr>
          <a:xfrm>
            <a:off x="1524000" y="1007416"/>
            <a:ext cx="9144000" cy="727599"/>
          </a:xfrm>
          <a:prstGeom prst="rect">
            <a:avLst/>
          </a:prstGeom>
        </p:spPr>
        <p:txBody>
          <a:bodyPr vert="horz" lIns="91440" tIns="45720" rIns="91440" bIns="45720" rtlCol="0" wrap="square">
            <a:normAutofit fontScale="925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600" b="1">
                <a:solidFill>
                  <a:srgbClr val="1A202C"/>
                </a:solidFill>
              </a:defRPr>
            </a:pPr>
            <a:r>
              <a:t>BUSINESS MODEL &amp; SUSTAINABILITY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371600"/>
            <a:ext cx="107259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50" b="1">
                <a:solidFill>
                  <a:srgbClr val="22543D"/>
                </a:solidFill>
              </a:defRPr>
            </a:pPr>
            <a:r>
              <a:t>100% Free for Smallholder Farmers, Sustained by Verified Institutional Partners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1520" y="1847088"/>
            <a:ext cx="6217920" cy="446227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132320" y="1847088"/>
            <a:ext cx="4325112" cy="4462272"/>
          </a:xfrm>
          <a:prstGeom prst="roundRect">
            <a:avLst/>
          </a:prstGeom>
          <a:solidFill>
            <a:srgbClr val="F7FAFC"/>
          </a:solidFill>
          <a:ln w="190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56032" bIns="256032"/>
          <a:lstStyle/>
          <a:p>
            <a:pPr algn="ctr">
              <a:spcAft>
                <a:spcPts val="1400"/>
              </a:spcAft>
              <a:defRPr sz="1750" b="1">
                <a:solidFill>
                  <a:srgbClr val="22543D"/>
                </a:solidFill>
              </a:defRPr>
            </a:pPr>
            <a:r>
              <a:t>REVENUE FLYWHEEL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400" b="1">
                <a:solidFill>
                  <a:srgbClr val="1A202C"/>
                </a:solidFill>
              </a:defRPr>
            </a:pPr>
            <a:r>
              <a:t>Free for Marginal Farmers: </a:t>
            </a:r>
            <a:r>
              <a:rPr b="0" sz="1250">
                <a:solidFill>
                  <a:srgbClr val="4A5568"/>
                </a:solidFill>
              </a:rPr>
              <a:t>Zero fees for diagnosis, audio advisories, and outbreak alerts, removing all financial barriers.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400" b="1">
                <a:solidFill>
                  <a:srgbClr val="1A202C"/>
                </a:solidFill>
              </a:defRPr>
            </a:pPr>
            <a:r>
              <a:t>B2B Input Partners: </a:t>
            </a:r>
            <a:r>
              <a:rPr b="0" sz="1250">
                <a:solidFill>
                  <a:srgbClr val="4A5568"/>
                </a:solidFill>
              </a:rPr>
              <a:t>Certified bio-pesticide and seed suppliers pay referral margins for doctor-verified recommendations.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400" b="1">
                <a:solidFill>
                  <a:srgbClr val="1A202C"/>
                </a:solidFill>
              </a:defRPr>
            </a:pPr>
            <a:r>
              <a:t>B2B/B2G Analytics: </a:t>
            </a:r>
            <a:r>
              <a:rPr b="0" sz="1250">
                <a:solidFill>
                  <a:srgbClr val="4A5568"/>
                </a:solidFill>
              </a:rPr>
              <a:t>Crop insurers &amp; State Agri departments license real-time epidemiology data for risk management.</a:t>
            </a:r>
          </a:p>
        </p:txBody>
      </p:sp>
    </p:spTree>
    <p:extLst>
      <p:ext uri="{BB962C8B-B14F-4D97-AF65-F5344CB8AC3E}">
        <p14:creationId xmlns:p14="http://schemas.microsoft.com/office/powerpoint/2010/main" val="31488532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069AF-266D-7202-335D-8DC1EEFB4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>
            <a:extLst>
              <a:ext uri="{FF2B5EF4-FFF2-40B4-BE49-F238E27FC236}">
                <a16:creationId xmlns:a16="http://schemas.microsoft.com/office/drawing/2014/main" id="{82B96996-1E14-27C4-BD54-FE3A5019118B}"/>
              </a:ext>
            </a:extLst>
          </p:cNvPr>
          <p:cNvSpPr txBox="1">
            <a:spLocks/>
          </p:cNvSpPr>
          <p:nvPr/>
        </p:nvSpPr>
        <p:spPr>
          <a:xfrm>
            <a:off x="1524000" y="1007416"/>
            <a:ext cx="9144000" cy="727599"/>
          </a:xfrm>
          <a:prstGeom prst="rect">
            <a:avLst/>
          </a:prstGeom>
        </p:spPr>
        <p:txBody>
          <a:bodyPr vert="horz" lIns="91440" tIns="45720" rIns="91440" bIns="45720" rtlCol="0" wrap="square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600" b="1">
                <a:solidFill>
                  <a:srgbClr val="1A202C"/>
                </a:solidFill>
              </a:defRPr>
            </a:pPr>
            <a:r>
              <a:t>RESEARCH AND REFERENCES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371600"/>
            <a:ext cx="107259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50" b="1">
                <a:solidFill>
                  <a:srgbClr val="22543D"/>
                </a:solidFill>
              </a:defRPr>
            </a:pPr>
            <a:r>
              <a:t>Grounded in Scientific Literature, Government Studies &amp; Field Benchmarks</a:t>
            </a:r>
          </a:p>
        </p:txBody>
      </p:sp>
      <p:pic>
        <p:nvPicPr>
          <p:cNvPr id="11" name="Picture 10" descr="slide8_references_clea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1520" y="1847088"/>
            <a:ext cx="6217920" cy="446227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132320" y="1847088"/>
            <a:ext cx="4325112" cy="4462272"/>
          </a:xfrm>
          <a:prstGeom prst="roundRect">
            <a:avLst/>
          </a:prstGeom>
          <a:solidFill>
            <a:srgbClr val="F7FAFC"/>
          </a:solidFill>
          <a:ln w="190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56032" bIns="256032"/>
          <a:lstStyle/>
          <a:p>
            <a:pPr algn="ctr">
              <a:spcAft>
                <a:spcPts val="1400"/>
              </a:spcAft>
              <a:defRPr sz="1750" b="1">
                <a:solidFill>
                  <a:srgbClr val="22543D"/>
                </a:solidFill>
              </a:defRPr>
            </a:pPr>
            <a:r>
              <a:t>KEY CITATIONS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400" b="1">
                <a:solidFill>
                  <a:srgbClr val="1A202C"/>
                </a:solidFill>
              </a:defRPr>
            </a:pPr>
            <a:r>
              <a:t>ICAR Economic Survey: </a:t>
            </a:r>
            <a:r>
              <a:rPr b="0" sz="1250">
                <a:solidFill>
                  <a:srgbClr val="4A5568"/>
                </a:solidFill>
              </a:rPr>
              <a:t>Documents ₹90,000+ Crores annual crop loss to misdiagnosed plant pathogens across India.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400" b="1">
                <a:solidFill>
                  <a:srgbClr val="1A202C"/>
                </a:solidFill>
              </a:defRPr>
            </a:pPr>
            <a:r>
              <a:t>NSSO 77th Round: </a:t>
            </a:r>
            <a:r>
              <a:rPr b="0" sz="1250">
                <a:solidFill>
                  <a:srgbClr val="4A5568"/>
                </a:solidFill>
              </a:rPr>
              <a:t>Confirms 60%+ Indian farmers depend solely on local chemical shopkeepers for advice.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400" b="1">
                <a:solidFill>
                  <a:srgbClr val="1A202C"/>
                </a:solidFill>
              </a:defRPr>
            </a:pPr>
            <a:r>
              <a:t>PlantVillage Benchmarks: </a:t>
            </a:r>
            <a:r>
              <a:rPr b="0" sz="1250">
                <a:solidFill>
                  <a:srgbClr val="4A5568"/>
                </a:solidFill>
              </a:rPr>
              <a:t>Validates 96%+ mobile accuracy using lightweight quantized vision architectures.</a:t>
            </a:r>
          </a:p>
        </p:txBody>
      </p:sp>
    </p:spTree>
    <p:extLst>
      <p:ext uri="{BB962C8B-B14F-4D97-AF65-F5344CB8AC3E}">
        <p14:creationId xmlns:p14="http://schemas.microsoft.com/office/powerpoint/2010/main" val="7794470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47</Words>
  <Application>Microsoft Office PowerPoint</Application>
  <PresentationFormat>Widescreen</PresentationFormat>
  <Paragraphs>11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[BTECH-035-2023-24] ARYAN VERMA</dc:creator>
  <cp:lastModifiedBy>Arindam Sharma</cp:lastModifiedBy>
  <cp:revision>4</cp:revision>
  <dcterms:created xsi:type="dcterms:W3CDTF">2025-10-30T13:49:42Z</dcterms:created>
  <dcterms:modified xsi:type="dcterms:W3CDTF">2026-09-11T11:22:36Z</dcterms:modified>
</cp:coreProperties>
</file>